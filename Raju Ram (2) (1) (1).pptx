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147469385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C68294-3D76-B5EF-81C5-1637E3582406}" v="4" dt="2026-05-20T02:14:23.095"/>
    <p1510:client id="{4232F014-4531-AF00-ED7A-D9FB1EC9C7FB}" v="750" dt="2026-05-18T10:59:13.738"/>
    <p1510:client id="{59FF6A64-B20B-02FE-C2CF-925001F3833A}" v="559" dt="2026-05-18T12:07:07.888"/>
    <p1510:client id="{6EF7B25B-A5B5-9712-715E-EB1AD2911CC9}" v="29" dt="2026-05-20T01:53:38.546"/>
    <p1510:client id="{7B1D12DA-A9EA-C289-D573-EA506EB5A2C0}" v="28" dt="2026-05-20T01:51:42.121"/>
    <p1510:client id="{7FCBE1E8-1801-514D-4940-EE2C1E75638D}" v="523" dt="2026-05-19T14:17:29.406"/>
    <p1510:client id="{9EFAD070-BC20-0272-D650-7E48D79D2775}" v="638" dt="2026-05-20T02:13:03.870"/>
    <p1510:client id="{E95C90A5-E0A4-DC2E-BB65-BF65B6A770E2}" v="228" dt="2026-05-20T01:44:50.954"/>
    <p1510:client id="{F1E46DAD-E21A-66FD-A4DC-784A8E914DC9}" v="45" dt="2026-05-19T03:12:57.7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348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470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982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857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751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601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824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060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976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760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363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One Colum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/>
              <a:t>©2022 </a:t>
            </a:r>
            <a:r>
              <a:rPr lang="en-US" err="1"/>
              <a:t>Exl</a:t>
            </a:r>
            <a:r>
              <a:rPr lang="en-US"/>
              <a:t>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1922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108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EFE7E-0A4B-445B-9F63-7370F261F0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5953" y="383096"/>
            <a:ext cx="8340436" cy="391631"/>
          </a:xfrm>
        </p:spPr>
        <p:txBody>
          <a:bodyPr/>
          <a:lstStyle/>
          <a:p>
            <a:r>
              <a:rPr lang="en-US" sz="2800"/>
              <a:t> Raju Ram | Python &amp; GenAI Developer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4DE7C7-F1C3-4BC3-835D-1634AC5D9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>
                <a:solidFill>
                  <a:srgbClr val="000000"/>
                </a:solidFill>
              </a:rPr>
              <a:t>©2026 EXL Service Holdings, Inc.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B6AF5C-2E46-4DD4-BC65-577421A5A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CA08CA8-4222-D24F-ACDB-33341C247B6F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78DD09E-6AC3-F958-C123-0569B2D42386}"/>
              </a:ext>
            </a:extLst>
          </p:cNvPr>
          <p:cNvSpPr txBox="1">
            <a:spLocks/>
          </p:cNvSpPr>
          <p:nvPr/>
        </p:nvSpPr>
        <p:spPr>
          <a:xfrm>
            <a:off x="80402" y="1322709"/>
            <a:ext cx="12111598" cy="5951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spcAft>
                <a:spcPts val="400"/>
              </a:spcAft>
              <a:buFontTx/>
              <a:buNone/>
              <a:defRPr sz="2400" kern="1200">
                <a:solidFill>
                  <a:schemeClr val="accent1"/>
                </a:solidFill>
                <a:latin typeface="Trebuchet MS" pitchFamily="34" charset="0"/>
                <a:ea typeface="+mn-ea"/>
                <a:cs typeface="+mn-cs"/>
              </a:defRPr>
            </a:lvl1pPr>
            <a:lvl2pPr marL="512763" indent="-285750" algn="l" defTabSz="914400" rtl="0" eaLnBrk="1" latinLnBrk="0" hangingPunct="1">
              <a:spcBef>
                <a:spcPct val="20000"/>
              </a:spcBef>
              <a:buFontTx/>
              <a:buBlip>
                <a:blip r:embed="rId2"/>
              </a:buBlip>
              <a:defRPr sz="2000" kern="1200">
                <a:solidFill>
                  <a:schemeClr val="tx1"/>
                </a:solidFill>
                <a:latin typeface="Century Gothic" pitchFamily="34" charset="0"/>
                <a:ea typeface="+mn-ea"/>
                <a:cs typeface="+mn-cs"/>
              </a:defRPr>
            </a:lvl2pPr>
            <a:lvl3pPr marL="739775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+"/>
              <a:defRPr sz="1600" kern="1200">
                <a:solidFill>
                  <a:schemeClr val="tx1"/>
                </a:solidFill>
                <a:latin typeface="Century Gothic" pitchFamily="34" charset="0"/>
                <a:ea typeface="+mn-ea"/>
                <a:cs typeface="+mn-cs"/>
              </a:defRPr>
            </a:lvl3pPr>
            <a:lvl4pPr marL="974725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Century Gothic" pitchFamily="34" charset="0"/>
              <a:buChar char="&gt;"/>
              <a:defRPr sz="1600" kern="1200">
                <a:solidFill>
                  <a:schemeClr val="tx1"/>
                </a:solidFill>
                <a:latin typeface="Century Gothic" pitchFamily="34" charset="0"/>
                <a:ea typeface="+mn-ea"/>
                <a:cs typeface="+mn-cs"/>
              </a:defRPr>
            </a:lvl4pPr>
            <a:lvl5pPr marL="1200150" indent="-228600" algn="l" defTabSz="914400" rtl="0" eaLnBrk="1" latinLnBrk="0" hangingPunct="1">
              <a:spcBef>
                <a:spcPct val="20000"/>
              </a:spcBef>
              <a:buClr>
                <a:srgbClr val="676767"/>
              </a:buClr>
              <a:buFont typeface="Arial" pitchFamily="34" charset="0"/>
              <a:buChar char="+"/>
              <a:defRPr sz="1600" kern="1200">
                <a:solidFill>
                  <a:schemeClr val="tx1"/>
                </a:solidFill>
                <a:latin typeface="Century Gothic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174625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>
                <a:srgbClr val="FB4E0B"/>
              </a:buClr>
              <a:buSzPct val="75000"/>
              <a:buFont typeface="Wingdings" panose="05000000000000000000" pitchFamily="2" charset="2"/>
              <a:buChar char="§"/>
              <a:tabLst/>
              <a:defRPr/>
            </a:pP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A94615-54CF-8A5F-DF53-E1BB5C63E269}"/>
              </a:ext>
            </a:extLst>
          </p:cNvPr>
          <p:cNvSpPr txBox="1"/>
          <p:nvPr/>
        </p:nvSpPr>
        <p:spPr>
          <a:xfrm>
            <a:off x="2209" y="1038538"/>
            <a:ext cx="12134617" cy="307777"/>
          </a:xfrm>
          <a:prstGeom prst="rect">
            <a:avLst/>
          </a:prstGeom>
          <a:solidFill>
            <a:srgbClr val="ED7D31"/>
          </a:solidFill>
        </p:spPr>
        <p:txBody>
          <a:bodyPr wrap="square" rtlCol="0">
            <a:spAutoFit/>
          </a:bodyPr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>
                <a:solidFill>
                  <a:srgbClr val="FFFFFF"/>
                </a:solidFill>
              </a:rPr>
              <a:t>Overview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0930E7-C576-B94C-64EB-87E2C4D095A2}"/>
              </a:ext>
            </a:extLst>
          </p:cNvPr>
          <p:cNvSpPr/>
          <p:nvPr/>
        </p:nvSpPr>
        <p:spPr>
          <a:xfrm>
            <a:off x="-5033" y="3064567"/>
            <a:ext cx="12137550" cy="3113673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111125" fontAlgn="ctr">
              <a:spcBef>
                <a:spcPct val="0"/>
              </a:spcBef>
              <a:spcAft>
                <a:spcPts val="400"/>
              </a:spcAft>
              <a:buClr>
                <a:srgbClr val="FB4E0B"/>
              </a:buClr>
              <a:buSzPct val="75000"/>
              <a:tabLst>
                <a:tab pos="228600" algn="l"/>
                <a:tab pos="457200" algn="l"/>
              </a:tabLst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 </a:t>
            </a:r>
            <a:r>
              <a:rPr lang="en-GB" sz="1400">
                <a:solidFill>
                  <a:srgbClr val="000000"/>
                </a:solidFill>
                <a:latin typeface="Calibri Light" panose="020F0302020204030204"/>
              </a:rPr>
              <a:t>EXL Service | Assistant</a:t>
            </a: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 Manager – </a:t>
            </a:r>
            <a:r>
              <a:rPr lang="en-GB" sz="1400">
                <a:solidFill>
                  <a:srgbClr val="000000"/>
                </a:solidFill>
                <a:latin typeface="Calibri Light" panose="020F0302020204030204"/>
              </a:rPr>
              <a:t>Python Developer</a:t>
            </a: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  </a:t>
            </a:r>
            <a:r>
              <a:rPr lang="en-GB" sz="1400">
                <a:solidFill>
                  <a:srgbClr val="000000"/>
                </a:solidFill>
                <a:latin typeface="Calibri Light" panose="020F0302020204030204"/>
              </a:rPr>
              <a:t> </a:t>
            </a: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 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(</a:t>
            </a:r>
            <a:r>
              <a:rPr lang="en-GB" sz="1200">
                <a:solidFill>
                  <a:schemeClr val="bg1">
                    <a:lumMod val="50000"/>
                  </a:schemeClr>
                </a:solidFill>
                <a:latin typeface="Calibri Light" panose="020F0302020204030204"/>
              </a:rPr>
              <a:t>Oct 2023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 – Present)</a:t>
            </a:r>
            <a:endParaRPr lang="en-US" sz="1400">
              <a:solidFill>
                <a:schemeClr val="bg1">
                  <a:lumMod val="50000"/>
                </a:schemeClr>
              </a:solidFill>
              <a:effectLst/>
              <a:latin typeface="-apple-system"/>
            </a:endParaRPr>
          </a:p>
          <a:p>
            <a:pPr marL="285750" indent="-285750">
              <a:buFont typeface="Arial"/>
              <a:buChar char="•"/>
            </a:pPr>
            <a:r>
              <a:rPr lang="en-US" sz="1200">
                <a:solidFill>
                  <a:schemeClr val="tx2"/>
                </a:solidFill>
                <a:latin typeface="Aptos"/>
                <a:ea typeface="Calibri"/>
                <a:cs typeface="Calibri"/>
              </a:rPr>
              <a:t>Executed end-to-end ETL workflows using Python and SQL to process </a:t>
            </a:r>
            <a:r>
              <a:rPr lang="en-US" sz="1200" b="1">
                <a:solidFill>
                  <a:schemeClr val="tx2"/>
                </a:solidFill>
                <a:latin typeface="Aptos"/>
                <a:ea typeface="Calibri"/>
                <a:cs typeface="Calibri"/>
              </a:rPr>
              <a:t>millions of records</a:t>
            </a:r>
            <a:r>
              <a:rPr lang="en-US" sz="1200">
                <a:solidFill>
                  <a:schemeClr val="tx2"/>
                </a:solidFill>
                <a:latin typeface="Aptos"/>
                <a:ea typeface="Calibri"/>
                <a:cs typeface="Calibri"/>
              </a:rPr>
              <a:t>, improving data reliability and reducing data processing time by </a:t>
            </a:r>
            <a:r>
              <a:rPr lang="en-US" sz="1200" b="1">
                <a:solidFill>
                  <a:schemeClr val="tx2"/>
                </a:solidFill>
                <a:latin typeface="Aptos"/>
                <a:ea typeface="Calibri"/>
                <a:cs typeface="Calibri"/>
              </a:rPr>
              <a:t>20–30%</a:t>
            </a:r>
            <a:endParaRPr lang="en-US" sz="1200">
              <a:solidFill>
                <a:schemeClr val="tx2"/>
              </a:solidFill>
              <a:latin typeface="Aptos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200">
                <a:solidFill>
                  <a:schemeClr val="tx2"/>
                </a:solidFill>
                <a:latin typeface="Aptos"/>
                <a:ea typeface="Calibri"/>
                <a:cs typeface="Calibri"/>
              </a:rPr>
              <a:t>Designed and implemented metadata-driven Databricks notebooks to automate ETL pipelines, reducing manual effort by </a:t>
            </a:r>
            <a:r>
              <a:rPr lang="en-US" sz="1200" b="1">
                <a:solidFill>
                  <a:schemeClr val="tx2"/>
                </a:solidFill>
                <a:latin typeface="Aptos"/>
                <a:ea typeface="Calibri"/>
                <a:cs typeface="Calibri"/>
              </a:rPr>
              <a:t>40%+</a:t>
            </a:r>
            <a:r>
              <a:rPr lang="en-US" sz="1200">
                <a:solidFill>
                  <a:schemeClr val="tx2"/>
                </a:solidFill>
                <a:latin typeface="Aptos"/>
                <a:ea typeface="Calibri"/>
                <a:cs typeface="Calibri"/>
              </a:rPr>
              <a:t> and enabling scalable, dynamic workflows</a:t>
            </a:r>
          </a:p>
          <a:p>
            <a:pPr marL="285750" indent="-285750">
              <a:buFont typeface="Arial"/>
              <a:buChar char="•"/>
            </a:pPr>
            <a:r>
              <a:rPr lang="en-US" sz="1200">
                <a:solidFill>
                  <a:schemeClr val="tx2"/>
                </a:solidFill>
                <a:latin typeface="Aptos"/>
                <a:ea typeface="Calibri"/>
                <a:cs typeface="Calibri"/>
              </a:rPr>
              <a:t>Managed and monitored Azure Data Factory (ADF) pipelines with automated scheduling and error tracking, achieving </a:t>
            </a:r>
            <a:r>
              <a:rPr lang="en-US" sz="1200" b="1">
                <a:solidFill>
                  <a:schemeClr val="tx2"/>
                </a:solidFill>
                <a:latin typeface="Aptos"/>
                <a:ea typeface="Calibri"/>
                <a:cs typeface="Calibri"/>
              </a:rPr>
              <a:t>99% pipeline reliability</a:t>
            </a:r>
            <a:endParaRPr lang="en-US" sz="1200">
              <a:solidFill>
                <a:schemeClr val="tx2"/>
              </a:solidFill>
              <a:latin typeface="Aptos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200">
                <a:solidFill>
                  <a:schemeClr val="tx2"/>
                </a:solidFill>
                <a:latin typeface="Aptos"/>
                <a:ea typeface="Calibri"/>
                <a:cs typeface="Segoe UI"/>
              </a:rPr>
              <a:t>Tested REST APIs using Postman (GET, POST, PUT) to enable seamless data exchange, reducing manual data handling effort by </a:t>
            </a:r>
            <a:r>
              <a:rPr lang="en-US" sz="1200" b="1">
                <a:solidFill>
                  <a:schemeClr val="tx2"/>
                </a:solidFill>
                <a:latin typeface="Aptos"/>
                <a:ea typeface="Calibri"/>
                <a:cs typeface="Segoe UI"/>
              </a:rPr>
              <a:t>25%</a:t>
            </a:r>
          </a:p>
          <a:p>
            <a:pPr marL="285750" indent="-285750">
              <a:buFont typeface="Arial"/>
              <a:buChar char="•"/>
            </a:pPr>
            <a:r>
              <a:rPr lang="en-US" sz="1200">
                <a:solidFill>
                  <a:schemeClr val="tx2"/>
                </a:solidFill>
                <a:latin typeface="Aptos"/>
                <a:ea typeface="Calibri"/>
                <a:cs typeface="Calibri"/>
              </a:rPr>
              <a:t>Developed a </a:t>
            </a:r>
            <a:r>
              <a:rPr lang="en-US" sz="1200" b="1">
                <a:solidFill>
                  <a:schemeClr val="tx2"/>
                </a:solidFill>
                <a:latin typeface="Aptos"/>
                <a:ea typeface="Calibri"/>
                <a:cs typeface="Calibri"/>
              </a:rPr>
              <a:t>Generative AI-powered chatbot</a:t>
            </a:r>
            <a:r>
              <a:rPr lang="en-US" sz="1200">
                <a:solidFill>
                  <a:schemeClr val="tx2"/>
                </a:solidFill>
                <a:latin typeface="Aptos"/>
                <a:ea typeface="Calibri"/>
                <a:cs typeface="Calibri"/>
              </a:rPr>
              <a:t> for an asset management company using OpenAI APIs and LLMs, leveraging multi-agent RAG architecture </a:t>
            </a:r>
          </a:p>
          <a:p>
            <a:pPr marL="285750" indent="-285750">
              <a:buFont typeface="Arial"/>
              <a:buChar char="•"/>
            </a:pPr>
            <a:r>
              <a:rPr lang="en-US" sz="1200">
                <a:solidFill>
                  <a:schemeClr val="tx2"/>
                </a:solidFill>
                <a:latin typeface="Aptos"/>
                <a:ea typeface="Calibri"/>
                <a:cs typeface="Calibri"/>
              </a:rPr>
              <a:t>Implemented advanced document parsing and table extraction techniques and integrated reranking models, improving retrieval precision and response quality by </a:t>
            </a:r>
            <a:r>
              <a:rPr lang="en-US" sz="1200" b="1">
                <a:solidFill>
                  <a:schemeClr val="tx2"/>
                </a:solidFill>
                <a:latin typeface="Aptos"/>
                <a:ea typeface="Calibri"/>
                <a:cs typeface="Calibri"/>
              </a:rPr>
              <a:t>25%+</a:t>
            </a:r>
            <a:endParaRPr lang="en-US" sz="1200">
              <a:solidFill>
                <a:schemeClr val="tx2"/>
              </a:solidFill>
              <a:latin typeface="Aptos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200">
                <a:solidFill>
                  <a:schemeClr val="tx2"/>
                </a:solidFill>
                <a:latin typeface="Aptos"/>
                <a:ea typeface="Calibri"/>
                <a:cs typeface="Calibri"/>
              </a:rPr>
              <a:t>Built a </a:t>
            </a:r>
            <a:r>
              <a:rPr lang="en-US" sz="1200" b="1">
                <a:solidFill>
                  <a:schemeClr val="tx2"/>
                </a:solidFill>
                <a:latin typeface="Aptos"/>
                <a:ea typeface="Calibri"/>
                <a:cs typeface="Calibri"/>
              </a:rPr>
              <a:t>Generative AI solution for personalized email campaigns</a:t>
            </a:r>
            <a:r>
              <a:rPr lang="en-US" sz="1200">
                <a:solidFill>
                  <a:schemeClr val="tx2"/>
                </a:solidFill>
                <a:latin typeface="Aptos"/>
                <a:ea typeface="Calibri"/>
                <a:cs typeface="Calibri"/>
              </a:rPr>
              <a:t>, automating content creation using customer segmentation and templates, improving campaign efficiency </a:t>
            </a:r>
            <a:endParaRPr lang="en-US" sz="1200" b="1">
              <a:solidFill>
                <a:schemeClr val="tx2"/>
              </a:solidFill>
              <a:latin typeface="Aptos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200">
                <a:solidFill>
                  <a:schemeClr val="tx2"/>
                </a:solidFill>
                <a:latin typeface="Aptos"/>
                <a:ea typeface="Calibri"/>
                <a:cs typeface="Calibri"/>
              </a:rPr>
              <a:t>Applied advanced prompt engineering techniques to generate tailored email content, increasing customer engagement (open/CTR rates) by </a:t>
            </a:r>
            <a:r>
              <a:rPr lang="en-US" sz="1200" b="1">
                <a:solidFill>
                  <a:schemeClr val="tx2"/>
                </a:solidFill>
                <a:latin typeface="Aptos"/>
                <a:ea typeface="Calibri"/>
                <a:cs typeface="Calibri"/>
              </a:rPr>
              <a:t>15–25%</a:t>
            </a:r>
            <a:endParaRPr lang="en-US" sz="1200">
              <a:solidFill>
                <a:schemeClr val="tx2"/>
              </a:solidFill>
              <a:latin typeface="Aptos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200">
                <a:solidFill>
                  <a:schemeClr val="tx2"/>
                </a:solidFill>
                <a:latin typeface="Aptos"/>
                <a:ea typeface="Calibri"/>
                <a:cs typeface="Calibri"/>
              </a:rPr>
              <a:t>Performed data cleaning, preprocessing, and feature selection using Chi-square and Information Value (IV), improving feature relevance and reducing noise by </a:t>
            </a:r>
            <a:r>
              <a:rPr lang="en-US" sz="1200" b="1">
                <a:solidFill>
                  <a:schemeClr val="tx2"/>
                </a:solidFill>
                <a:latin typeface="Aptos"/>
                <a:ea typeface="Calibri"/>
                <a:cs typeface="Calibri"/>
              </a:rPr>
              <a:t>20%</a:t>
            </a:r>
            <a:endParaRPr lang="en-US" sz="1200">
              <a:solidFill>
                <a:schemeClr val="tx2"/>
              </a:solidFill>
              <a:latin typeface="Aptos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200">
                <a:solidFill>
                  <a:schemeClr val="tx2"/>
                </a:solidFill>
                <a:latin typeface="Aptos"/>
                <a:ea typeface="Calibri"/>
                <a:cs typeface="Calibri"/>
              </a:rPr>
              <a:t>Optimized machine learning models using Grid Search CV and </a:t>
            </a:r>
            <a:r>
              <a:rPr lang="en-US" sz="1200" err="1">
                <a:solidFill>
                  <a:schemeClr val="tx2"/>
                </a:solidFill>
                <a:latin typeface="Aptos"/>
                <a:ea typeface="Calibri"/>
                <a:cs typeface="Calibri"/>
              </a:rPr>
              <a:t>Optuna</a:t>
            </a:r>
            <a:r>
              <a:rPr lang="en-US" sz="1200">
                <a:solidFill>
                  <a:schemeClr val="tx2"/>
                </a:solidFill>
                <a:latin typeface="Aptos"/>
                <a:ea typeface="Calibri"/>
                <a:cs typeface="Calibri"/>
              </a:rPr>
              <a:t>, improving recall by and evaluating performance using accuracy, precision, recall, and decile lift analysis</a:t>
            </a:r>
          </a:p>
          <a:p>
            <a:endParaRPr lang="en-US" sz="1200">
              <a:solidFill>
                <a:schemeClr val="tx2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ts val="600"/>
              </a:spcBef>
              <a:spcAft>
                <a:spcPct val="0"/>
              </a:spcAft>
            </a:pPr>
            <a:endParaRPr lang="en-US" sz="1400">
              <a:solidFill>
                <a:schemeClr val="tx2"/>
              </a:solidFill>
              <a:ea typeface="Calibri"/>
              <a:cs typeface="Calibri"/>
            </a:endParaRPr>
          </a:p>
          <a:p>
            <a:endParaRPr lang="en-US" sz="1200">
              <a:solidFill>
                <a:srgbClr val="081105"/>
              </a:solidFill>
              <a:latin typeface="Calibri"/>
              <a:ea typeface="Calibri"/>
              <a:cs typeface="Calibri"/>
            </a:endParaRPr>
          </a:p>
          <a:p>
            <a:endParaRPr lang="en-US" sz="1400">
              <a:solidFill>
                <a:schemeClr val="tx2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2CDAA7-6E4A-C9D5-6B03-968ABE5CE8C9}"/>
              </a:ext>
            </a:extLst>
          </p:cNvPr>
          <p:cNvSpPr txBox="1"/>
          <p:nvPr/>
        </p:nvSpPr>
        <p:spPr>
          <a:xfrm>
            <a:off x="52901" y="5219252"/>
            <a:ext cx="12093711" cy="307777"/>
          </a:xfrm>
          <a:prstGeom prst="rect">
            <a:avLst/>
          </a:prstGeom>
          <a:solidFill>
            <a:schemeClr val="accent2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                                   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Academics &amp; Certifications</a:t>
            </a:r>
            <a:endParaRPr lang="en-US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7E83DA-BB11-05D1-340E-DDDADB580B30}"/>
              </a:ext>
            </a:extLst>
          </p:cNvPr>
          <p:cNvSpPr txBox="1"/>
          <p:nvPr/>
        </p:nvSpPr>
        <p:spPr>
          <a:xfrm>
            <a:off x="787" y="1888669"/>
            <a:ext cx="12135214" cy="316919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1400" b="1">
                <a:solidFill>
                  <a:srgbClr val="FFFFFF"/>
                </a:solidFill>
              </a:rPr>
              <a:t>Key Skills and Industry Expertise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AF5B64-2710-C49A-0921-D2994C88C028}"/>
              </a:ext>
            </a:extLst>
          </p:cNvPr>
          <p:cNvSpPr txBox="1"/>
          <p:nvPr/>
        </p:nvSpPr>
        <p:spPr>
          <a:xfrm>
            <a:off x="76200" y="2755452"/>
            <a:ext cx="12131811" cy="30777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Accomplishments and Assignments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2C7041A-031B-8E7D-11A7-6B7A8810D952}"/>
              </a:ext>
            </a:extLst>
          </p:cNvPr>
          <p:cNvSpPr/>
          <p:nvPr/>
        </p:nvSpPr>
        <p:spPr>
          <a:xfrm>
            <a:off x="-5158" y="2200063"/>
            <a:ext cx="11620793" cy="70788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fontAlgn="ctr">
              <a:buClr>
                <a:srgbClr val="FB4E0B"/>
              </a:buClr>
              <a:buSzPct val="75000"/>
              <a:buFont typeface="Arial" panose="05000000000000000000" pitchFamily="2" charset="2"/>
              <a:buChar char="•"/>
              <a:tabLst>
                <a:tab pos="228600" algn="l"/>
                <a:tab pos="457200" algn="l"/>
              </a:tabLst>
              <a:defRPr/>
            </a:pPr>
            <a:r>
              <a:rPr lang="en-GB" sz="1400" b="1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 </a:t>
            </a: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Calibri"/>
                <a:cs typeface="Calibri"/>
              </a:rPr>
              <a:t>Language/Skills:</a:t>
            </a: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Calibri"/>
                <a:cs typeface="Calibri"/>
              </a:rPr>
              <a:t> Python, </a:t>
            </a:r>
            <a:r>
              <a:rPr lang="en-GB" sz="14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C++, Data Structures and Algorithms, SQL, </a:t>
            </a:r>
            <a:r>
              <a:rPr lang="en-GB" sz="1400" err="1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PySpark</a:t>
            </a:r>
            <a:r>
              <a:rPr lang="en-GB" sz="14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, REST APIs</a:t>
            </a:r>
            <a:endParaRPr lang="en-US" sz="1400">
              <a:latin typeface="Aptos"/>
              <a:ea typeface="Calibri"/>
              <a:cs typeface="Calibri"/>
            </a:endParaRPr>
          </a:p>
          <a:p>
            <a:pPr>
              <a:buClr>
                <a:srgbClr val="FB4E0B"/>
              </a:buClr>
              <a:buSzPct val="75000"/>
              <a:buFont typeface="Arial" panose="05000000000000000000" pitchFamily="2" charset="2"/>
              <a:buChar char="•"/>
              <a:tabLst>
                <a:tab pos="228600" algn="l"/>
                <a:tab pos="457200" algn="l"/>
              </a:tabLst>
              <a:defRPr/>
            </a:pPr>
            <a:r>
              <a:rPr lang="en-GB" sz="1400" b="1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 </a:t>
            </a: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Calibri"/>
                <a:cs typeface="Calibri"/>
              </a:rPr>
              <a:t>Libraries/Tools:</a:t>
            </a: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Calibri"/>
                <a:cs typeface="Calibri"/>
              </a:rPr>
              <a:t> Scikit-learn, </a:t>
            </a:r>
            <a:r>
              <a:rPr lang="en-GB" sz="14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Pandas, </a:t>
            </a:r>
            <a:r>
              <a:rPr lang="en-GB" sz="1400" err="1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LangChain</a:t>
            </a:r>
            <a:r>
              <a:rPr lang="en-GB" sz="14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, </a:t>
            </a:r>
            <a:r>
              <a:rPr lang="en-GB" sz="1400" err="1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LlamaIndex</a:t>
            </a:r>
            <a:r>
              <a:rPr lang="en-GB" sz="14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, FAISS, Transformers, SAS, Power BI, Excel, Databricks, AWS, Azure, Git, GCP</a:t>
            </a:r>
            <a:endParaRPr lang="en-GB" sz="1400">
              <a:latin typeface="Aptos"/>
              <a:ea typeface="Calibri"/>
              <a:cs typeface="Calibri"/>
            </a:endParaRPr>
          </a:p>
          <a:p>
            <a:pPr marL="285750" indent="-174625">
              <a:spcBef>
                <a:spcPct val="0"/>
              </a:spcBef>
              <a:spcAft>
                <a:spcPts val="400"/>
              </a:spcAft>
              <a:buClr>
                <a:srgbClr val="FB4E0B"/>
              </a:buClr>
              <a:buSzPct val="75000"/>
              <a:buFont typeface="Wingdings" panose="05000000000000000000" pitchFamily="2" charset="2"/>
              <a:buChar char="§"/>
              <a:tabLst>
                <a:tab pos="228600" algn="l"/>
                <a:tab pos="457200" algn="l"/>
              </a:tabLst>
              <a:defRPr/>
            </a:pPr>
            <a:endParaRPr lang="en-GB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BBB78F3-4FD2-8F80-9731-9D45C8064543}"/>
              </a:ext>
            </a:extLst>
          </p:cNvPr>
          <p:cNvSpPr/>
          <p:nvPr/>
        </p:nvSpPr>
        <p:spPr>
          <a:xfrm>
            <a:off x="33067" y="1348653"/>
            <a:ext cx="12091650" cy="78996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96875" indent="-285750" fontAlgn="ctr">
              <a:spcBef>
                <a:spcPct val="0"/>
              </a:spcBef>
              <a:spcAft>
                <a:spcPts val="400"/>
              </a:spcAft>
              <a:buClr>
                <a:srgbClr val="FB4E0B"/>
              </a:buClr>
              <a:buSzPct val="75000"/>
              <a:buFont typeface="Arial" panose="05000000000000000000" pitchFamily="2" charset="2"/>
              <a:buChar char="•"/>
              <a:tabLst>
                <a:tab pos="228600" algn="l"/>
                <a:tab pos="457200" algn="l"/>
              </a:tabLst>
              <a:defRPr/>
            </a:pPr>
            <a:r>
              <a:rPr lang="en-GB" sz="1400">
                <a:solidFill>
                  <a:srgbClr val="000000"/>
                </a:solidFill>
                <a:ea typeface="+mn-lt"/>
                <a:cs typeface="+mn-lt"/>
              </a:rPr>
              <a:t> Python &amp; GenAI Developer </a:t>
            </a: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lt"/>
                <a:cs typeface="+mn-lt"/>
              </a:rPr>
              <a:t>with </a:t>
            </a:r>
            <a:r>
              <a:rPr lang="en-GB" sz="1400">
                <a:solidFill>
                  <a:srgbClr val="000000"/>
                </a:solidFill>
                <a:ea typeface="+mn-lt"/>
                <a:cs typeface="+mn-lt"/>
              </a:rPr>
              <a:t>2.5+</a:t>
            </a: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lt"/>
                <a:cs typeface="+mn-lt"/>
              </a:rPr>
              <a:t> years of </a:t>
            </a:r>
            <a:r>
              <a:rPr lang="en-GB" sz="1400">
                <a:solidFill>
                  <a:srgbClr val="000000"/>
                </a:solidFill>
                <a:ea typeface="+mn-lt"/>
                <a:cs typeface="+mn-lt"/>
              </a:rPr>
              <a:t>experience specializing in large-scale ETL workflows and big data processing using Python and SQL Strong expertise in analytics, statistical modelling, and machine learning, with hands-on experience in Databricks, SAS, Power BI, Azure, GCP and AWS</a:t>
            </a:r>
            <a:endParaRPr lang="en-GB" sz="1400"/>
          </a:p>
          <a:p>
            <a:pPr marL="111125">
              <a:spcBef>
                <a:spcPct val="0"/>
              </a:spcBef>
              <a:spcAft>
                <a:spcPts val="400"/>
              </a:spcAft>
              <a:buClr>
                <a:srgbClr val="FB4E0B"/>
              </a:buClr>
              <a:buSzPct val="75000"/>
              <a:tabLst>
                <a:tab pos="228600" algn="l"/>
                <a:tab pos="457200" algn="l"/>
              </a:tabLst>
              <a:defRPr/>
            </a:pPr>
            <a:endParaRPr lang="en-GB" sz="1400">
              <a:latin typeface="Calibri Light" panose="020F0302020204030204"/>
              <a:ea typeface="Calibri Light"/>
              <a:cs typeface="Calibri Light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EE2CE5E-D8A1-204C-AE7D-8622F6B55FCE}"/>
              </a:ext>
            </a:extLst>
          </p:cNvPr>
          <p:cNvSpPr/>
          <p:nvPr/>
        </p:nvSpPr>
        <p:spPr>
          <a:xfrm>
            <a:off x="24185" y="5693467"/>
            <a:ext cx="12137550" cy="178510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285750" indent="-174625" fontAlgn="ctr">
              <a:spcBef>
                <a:spcPct val="0"/>
              </a:spcBef>
              <a:spcAft>
                <a:spcPts val="400"/>
              </a:spcAft>
              <a:buClr>
                <a:srgbClr val="FB4E0B"/>
              </a:buClr>
              <a:buSzPct val="75000"/>
              <a:buFont typeface="Wingdings" panose="05000000000000000000" pitchFamily="2" charset="2"/>
              <a:buChar char="§"/>
              <a:tabLst>
                <a:tab pos="228600" algn="l"/>
                <a:tab pos="457200" algn="l"/>
              </a:tabLst>
              <a:defRPr/>
            </a:pPr>
            <a:r>
              <a:rPr lang="en-US" sz="12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Indian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Calibri"/>
                <a:cs typeface="Calibri"/>
              </a:rPr>
              <a:t> Institute of Technology </a:t>
            </a:r>
            <a:r>
              <a:rPr lang="en-US" sz="12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, Kharagpur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Calibri"/>
                <a:cs typeface="Calibri"/>
              </a:rPr>
              <a:t> </a:t>
            </a:r>
            <a:r>
              <a:rPr lang="en-US" sz="12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– Integrated MSc 2023</a:t>
            </a:r>
          </a:p>
          <a:p>
            <a:pPr marL="285750" indent="-174625">
              <a:spcBef>
                <a:spcPct val="0"/>
              </a:spcBef>
              <a:spcAft>
                <a:spcPts val="400"/>
              </a:spcAft>
              <a:buClr>
                <a:srgbClr val="FB4E0B"/>
              </a:buClr>
              <a:buSzPct val="75000"/>
              <a:buFont typeface="Wingdings" panose="05000000000000000000" pitchFamily="2" charset="2"/>
              <a:buChar char="§"/>
              <a:tabLst>
                <a:tab pos="228600" algn="l"/>
                <a:tab pos="457200" algn="l"/>
              </a:tabLst>
              <a:defRPr/>
            </a:pPr>
            <a:r>
              <a:rPr lang="en-US" sz="12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Machine Learning Foundation and Applications | Data Structure and Algorithm | Operating System</a:t>
            </a:r>
          </a:p>
          <a:p>
            <a:pPr marL="285750" indent="-174625">
              <a:spcBef>
                <a:spcPct val="0"/>
              </a:spcBef>
              <a:spcAft>
                <a:spcPts val="400"/>
              </a:spcAft>
              <a:buClr>
                <a:srgbClr val="FB4E0B"/>
              </a:buClr>
              <a:buSzPct val="75000"/>
              <a:buFont typeface="Wingdings" panose="05000000000000000000" pitchFamily="2" charset="2"/>
              <a:buChar char="§"/>
              <a:tabLst>
                <a:tab pos="228600" algn="l"/>
                <a:tab pos="457200" algn="l"/>
              </a:tabLst>
              <a:defRPr/>
            </a:pPr>
            <a:r>
              <a:rPr lang="en-US" sz="12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Analytical Foundation and Modelling Specialization | Artificial Intelligence: Foundation and Applications</a:t>
            </a:r>
          </a:p>
          <a:p>
            <a:pPr marL="285750" indent="-174625">
              <a:spcBef>
                <a:spcPct val="0"/>
              </a:spcBef>
              <a:spcAft>
                <a:spcPts val="400"/>
              </a:spcAft>
              <a:buClr>
                <a:srgbClr val="FB4E0B"/>
              </a:buClr>
              <a:buSzPct val="75000"/>
              <a:buFont typeface="Wingdings" panose="05000000000000000000" pitchFamily="2" charset="2"/>
              <a:buChar char="§"/>
              <a:tabLst>
                <a:tab pos="228600" algn="l"/>
                <a:tab pos="457200" algn="l"/>
              </a:tabLst>
              <a:defRPr/>
            </a:pPr>
            <a:r>
              <a:rPr lang="en-US" sz="12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Generative AI with RAG | Probability and Statistics | Machine Learning Classification Methods</a:t>
            </a:r>
          </a:p>
          <a:p>
            <a:pPr marL="285750" indent="-174625">
              <a:spcBef>
                <a:spcPct val="0"/>
              </a:spcBef>
              <a:spcAft>
                <a:spcPts val="400"/>
              </a:spcAft>
              <a:buClr>
                <a:srgbClr val="FB4E0B"/>
              </a:buClr>
              <a:buSzPct val="75000"/>
              <a:buFont typeface="Wingdings" panose="05000000000000000000" pitchFamily="2" charset="2"/>
              <a:buChar char="§"/>
              <a:tabLst>
                <a:tab pos="228600" algn="l"/>
                <a:tab pos="457200" algn="l"/>
              </a:tabLst>
              <a:defRPr/>
            </a:pPr>
            <a:endParaRPr lang="en-US" sz="1400">
              <a:solidFill>
                <a:srgbClr val="000000"/>
              </a:solidFill>
              <a:latin typeface="Calibri Light" panose="020F0302020204030204"/>
              <a:ea typeface="Calibri Light" panose="020F0302020204030204"/>
              <a:cs typeface="Calibri Light" panose="020F0302020204030204"/>
            </a:endParaRPr>
          </a:p>
          <a:p>
            <a:pPr marL="285750" indent="-174625">
              <a:spcBef>
                <a:spcPct val="0"/>
              </a:spcBef>
              <a:spcAft>
                <a:spcPts val="400"/>
              </a:spcAft>
              <a:buClr>
                <a:srgbClr val="FB4E0B"/>
              </a:buClr>
              <a:buSzPct val="75000"/>
              <a:buFont typeface="Wingdings" panose="05000000000000000000" pitchFamily="2" charset="2"/>
              <a:buChar char="§"/>
              <a:tabLst>
                <a:tab pos="228600" algn="l"/>
                <a:tab pos="457200" algn="l"/>
              </a:tabLst>
              <a:defRPr/>
            </a:pPr>
            <a:endParaRPr lang="en-US" sz="1400">
              <a:solidFill>
                <a:srgbClr val="000000"/>
              </a:solidFill>
              <a:latin typeface="Calibri Light" panose="020F0302020204030204"/>
              <a:ea typeface="Calibri Light" panose="020F0302020204030204"/>
              <a:cs typeface="Calibri Light" panose="020F0302020204030204"/>
            </a:endParaRPr>
          </a:p>
          <a:p>
            <a:pPr marL="111125">
              <a:spcBef>
                <a:spcPct val="0"/>
              </a:spcBef>
              <a:spcAft>
                <a:spcPts val="400"/>
              </a:spcAft>
              <a:buClr>
                <a:srgbClr val="FB4E0B"/>
              </a:buClr>
              <a:buSzPct val="75000"/>
              <a:tabLst>
                <a:tab pos="228600" algn="l"/>
                <a:tab pos="457200" algn="l"/>
              </a:tabLst>
              <a:defRPr/>
            </a:pPr>
            <a:endParaRPr lang="en-US" sz="1400">
              <a:solidFill>
                <a:srgbClr val="000000"/>
              </a:solidFill>
              <a:latin typeface="Calibri Light" panose="020F0302020204030204"/>
              <a:ea typeface="Calibri Light" panose="020F0302020204030204"/>
              <a:cs typeface="Calibri Light" panose="020F0302020204030204"/>
            </a:endParaRPr>
          </a:p>
        </p:txBody>
      </p:sp>
      <p:pic>
        <p:nvPicPr>
          <p:cNvPr id="5" name="Picture 4" descr="A person in a suit standing on a stage&#10;&#10;AI-generated content may be incorrect.">
            <a:extLst>
              <a:ext uri="{FF2B5EF4-FFF2-40B4-BE49-F238E27FC236}">
                <a16:creationId xmlns:a16="http://schemas.microsoft.com/office/drawing/2014/main" id="{1A27C671-6B0C-81CB-AC78-4F342FF6F3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507" t="36066" r="7391" b="30040"/>
          <a:stretch>
            <a:fillRect/>
          </a:stretch>
        </p:blipFill>
        <p:spPr>
          <a:xfrm>
            <a:off x="-20448" y="4583"/>
            <a:ext cx="1451489" cy="1012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1976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 Raju Ram | Python &amp; GenAI Developer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5</cp:revision>
  <dcterms:created xsi:type="dcterms:W3CDTF">2013-07-15T20:26:40Z</dcterms:created>
  <dcterms:modified xsi:type="dcterms:W3CDTF">2026-05-20T02:16:06Z</dcterms:modified>
</cp:coreProperties>
</file>